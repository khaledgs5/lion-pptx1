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framing lions as a symbol of strength and ecological balance. Emphasize that lions are social big cats and top predators.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lion range has shrunk over time due to land-use change. Point out Africa as the primary range and India as a small but important population.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infographic to show cooperation inside a pride. Mention that social structure is one reason lions differ from most other big cats.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sequence from stealth to capture. Clarify that hunts often fail, so energy-efficient behavior like scavenging is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pressures on lion populations with practical conservation responses. Close by encouraging support for evidence-based conservation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FC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F4E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03E24"/>
                </a:solidFill>
              </a:defRPr>
            </a:pPr>
            <a:r>
              <a:t>Lions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E2620"/>
                </a:solidFill>
              </a:defRPr>
            </a:pPr>
            <a:r>
              <a:t>Kings of the Savannah</a:t>
            </a:r>
          </a:p>
        </p:txBody>
      </p:sp>
      <p:sp>
        <p:nvSpPr>
          <p:cNvPr id="6" name="Oval 5"/>
          <p:cNvSpPr/>
          <p:nvPr/>
        </p:nvSpPr>
        <p:spPr>
          <a:xfrm>
            <a:off x="8686800" y="822960"/>
            <a:ext cx="1554480" cy="1554480"/>
          </a:xfrm>
          <a:prstGeom prst="ellipse">
            <a:avLst/>
          </a:prstGeom>
          <a:solidFill>
            <a:srgbClr val="C67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0" y="1828800"/>
            <a:ext cx="3017520" cy="3017520"/>
          </a:xfrm>
          <a:prstGeom prst="ellipse">
            <a:avLst/>
          </a:prstGeom>
          <a:solidFill>
            <a:srgbClr val="C67F3B"/>
          </a:solidFill>
          <a:ln w="19050">
            <a:solidFill>
              <a:srgbClr val="603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2286000"/>
            <a:ext cx="1920240" cy="1920240"/>
          </a:xfrm>
          <a:prstGeom prst="ellipse">
            <a:avLst/>
          </a:prstGeom>
          <a:solidFill>
            <a:srgbClr val="F4E1BA"/>
          </a:solidFill>
          <a:ln>
            <a:solidFill>
              <a:srgbClr val="603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0" y="2926080"/>
            <a:ext cx="164592" cy="164592"/>
          </a:xfrm>
          <a:prstGeom prst="ellipse">
            <a:avLst/>
          </a:prstGeom>
          <a:solidFill>
            <a:srgbClr val="603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72600" y="2926080"/>
            <a:ext cx="164592" cy="164592"/>
          </a:xfrm>
          <a:prstGeom prst="ellipse">
            <a:avLst/>
          </a:prstGeom>
          <a:solidFill>
            <a:srgbClr val="603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9089136" y="3218688"/>
            <a:ext cx="228600" cy="182880"/>
          </a:xfrm>
          <a:prstGeom prst="triangle">
            <a:avLst/>
          </a:prstGeom>
          <a:solidFill>
            <a:srgbClr val="603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4114800"/>
            <a:ext cx="2468880" cy="1097280"/>
          </a:xfrm>
          <a:prstGeom prst="roundRect">
            <a:avLst/>
          </a:prstGeom>
          <a:solidFill>
            <a:srgbClr val="7C8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6217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Scientific name: Panthera leo</a:t>
            </a:r>
          </a:p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Apex predator of African savannah ecosystems</a:t>
            </a:r>
          </a:p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Known for power, teamwork, and iconic roar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FC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F4E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03E24"/>
                </a:solidFill>
              </a:defRPr>
            </a:pPr>
            <a:r>
              <a:t>Habitat &amp;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Savannas, grasslands, and open woodlands</a:t>
            </a:r>
          </a:p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Strongholds in eastern and southern Africa</a:t>
            </a:r>
          </a:p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Small remnant population in India (Gir Forest)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C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6"/>
          <p:cNvSpPr/>
          <p:nvPr/>
        </p:nvSpPr>
        <p:spPr>
          <a:xfrm>
            <a:off x="6675120" y="2468880"/>
            <a:ext cx="2651760" cy="2377440"/>
          </a:xfrm>
          <a:prstGeom prst="cloud">
            <a:avLst/>
          </a:prstGeom>
          <a:solidFill>
            <a:srgbClr val="7C8C49"/>
          </a:solidFill>
          <a:ln>
            <a:solidFill>
              <a:srgbClr val="637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0" y="3017520"/>
            <a:ext cx="1005840" cy="594360"/>
          </a:xfrm>
          <a:prstGeom prst="roundRect">
            <a:avLst/>
          </a:prstGeom>
          <a:solidFill>
            <a:srgbClr val="47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79" y="3291840"/>
            <a:ext cx="182880" cy="182880"/>
          </a:xfrm>
          <a:prstGeom prst="ellipse">
            <a:avLst/>
          </a:prstGeom>
          <a:solidFill>
            <a:srgbClr val="B55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79" y="3840480"/>
            <a:ext cx="182880" cy="182880"/>
          </a:xfrm>
          <a:prstGeom prst="ellipse">
            <a:avLst/>
          </a:prstGeom>
          <a:solidFill>
            <a:srgbClr val="B55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12680" y="3246120"/>
            <a:ext cx="182880" cy="182880"/>
          </a:xfrm>
          <a:prstGeom prst="ellipse">
            <a:avLst/>
          </a:prstGeom>
          <a:solidFill>
            <a:srgbClr val="C67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1206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E2620"/>
                </a:solidFill>
              </a:defRPr>
            </a:pPr>
            <a:r>
              <a:t>Map-style view: major range in Africa, small pocket in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FC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F4E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03E24"/>
                </a:solidFill>
              </a:defRPr>
            </a:pPr>
            <a:r>
              <a:t>Pride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Prides are family groups led by related lionesses</a:t>
            </a:r>
          </a:p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Lionesses coordinate cub care and most hunts</a:t>
            </a:r>
          </a:p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Adult males defend territory and deter rivals</a:t>
            </a:r>
          </a:p>
        </p:txBody>
      </p:sp>
      <p:sp>
        <p:nvSpPr>
          <p:cNvPr id="6" name="Oval 5"/>
          <p:cNvSpPr/>
          <p:nvPr/>
        </p:nvSpPr>
        <p:spPr>
          <a:xfrm>
            <a:off x="8961120" y="3749039"/>
            <a:ext cx="1554480" cy="1554480"/>
          </a:xfrm>
          <a:prstGeom prst="ellipse">
            <a:avLst/>
          </a:prstGeom>
          <a:solidFill>
            <a:srgbClr val="C67F3B"/>
          </a:solidFill>
          <a:ln>
            <a:solidFill>
              <a:srgbClr val="603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Pride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86000"/>
            <a:ext cx="1645920" cy="822960"/>
          </a:xfrm>
          <a:prstGeom prst="roundRect">
            <a:avLst/>
          </a:prstGeom>
          <a:solidFill>
            <a:srgbClr val="7C8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Lionesses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38160" y="2697480"/>
            <a:ext cx="1600200" cy="1828799"/>
          </a:xfrm>
          <a:prstGeom prst="line">
            <a:avLst/>
          </a:prstGeom>
          <a:ln w="15240">
            <a:solidFill>
              <a:srgbClr val="603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241280" y="2286000"/>
            <a:ext cx="1645920" cy="822960"/>
          </a:xfrm>
          <a:prstGeom prst="roundRect">
            <a:avLst/>
          </a:prstGeom>
          <a:solidFill>
            <a:srgbClr val="47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Cubs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9738360" y="2697480"/>
            <a:ext cx="1325880" cy="1828799"/>
          </a:xfrm>
          <a:prstGeom prst="line">
            <a:avLst/>
          </a:prstGeom>
          <a:ln w="15240">
            <a:solidFill>
              <a:srgbClr val="603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5029200"/>
            <a:ext cx="1645920" cy="822960"/>
          </a:xfrm>
          <a:prstGeom prst="roundRect">
            <a:avLst/>
          </a:prstGeom>
          <a:solidFill>
            <a:srgbClr val="B55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Males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138160" y="4526279"/>
            <a:ext cx="1600200" cy="914401"/>
          </a:xfrm>
          <a:prstGeom prst="line">
            <a:avLst/>
          </a:prstGeom>
          <a:ln w="15240">
            <a:solidFill>
              <a:srgbClr val="603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241280" y="5029200"/>
            <a:ext cx="1645920" cy="822960"/>
          </a:xfrm>
          <a:prstGeom prst="roundRect">
            <a:avLst/>
          </a:prstGeom>
          <a:solidFill>
            <a:srgbClr val="637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Territory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9738360" y="4526279"/>
            <a:ext cx="1325880" cy="914401"/>
          </a:xfrm>
          <a:prstGeom prst="line">
            <a:avLst/>
          </a:prstGeom>
          <a:ln w="15240">
            <a:solidFill>
              <a:srgbClr val="603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FC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F4E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03E24"/>
                </a:solidFill>
              </a:defRPr>
            </a:pPr>
            <a:r>
              <a:t>Hunting &amp; Diet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Targets include zebra, wildebeest, and antelope</a:t>
            </a:r>
          </a:p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Hunts combine stealth, teamwork, and speed</a:t>
            </a:r>
          </a:p>
          <a:p>
            <a:pPr>
              <a:spcAft>
                <a:spcPts val="1000"/>
              </a:spcAft>
              <a:defRPr sz="2200">
                <a:solidFill>
                  <a:srgbClr val="2E2620"/>
                </a:solidFill>
              </a:defRPr>
            </a:pPr>
            <a:r>
              <a:t>Lions also scavenge when opportunities appear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468880"/>
            <a:ext cx="1737360" cy="2011680"/>
          </a:xfrm>
          <a:prstGeom prst="roundRect">
            <a:avLst/>
          </a:prstGeom>
          <a:solidFill>
            <a:srgbClr val="7C8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Stalk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6693408" y="3063240"/>
            <a:ext cx="594360" cy="4572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909560" y="3154680"/>
            <a:ext cx="777240" cy="320040"/>
          </a:xfrm>
          <a:prstGeom prst="rightArrow">
            <a:avLst/>
          </a:prstGeom>
          <a:solidFill>
            <a:srgbClr val="603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468880"/>
            <a:ext cx="1737360" cy="2011680"/>
          </a:xfrm>
          <a:prstGeom prst="roundRect">
            <a:avLst/>
          </a:prstGeom>
          <a:solidFill>
            <a:srgbClr val="C67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Chase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8705088" y="3063240"/>
            <a:ext cx="594360" cy="4572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921240" y="3154680"/>
            <a:ext cx="777240" cy="320040"/>
          </a:xfrm>
          <a:prstGeom prst="rightArrow">
            <a:avLst/>
          </a:prstGeom>
          <a:solidFill>
            <a:srgbClr val="603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149840" y="2468880"/>
            <a:ext cx="1737360" cy="2011680"/>
          </a:xfrm>
          <a:prstGeom prst="roundRect">
            <a:avLst/>
          </a:prstGeom>
          <a:solidFill>
            <a:srgbClr val="B55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Capture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10716768" y="3063240"/>
            <a:ext cx="594360" cy="4572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484632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C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E2620"/>
                </a:solidFill>
              </a:defRPr>
            </a:pPr>
            <a:r>
              <a:t>Diet: mostly large herbivores; scavenging helps conserve energy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FC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F4E1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03E24"/>
                </a:solidFill>
              </a:defRPr>
            </a:pPr>
            <a:r>
              <a:t>Threats &amp; Conservation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94960" cy="4389120"/>
          </a:xfrm>
          <a:prstGeom prst="roundRect">
            <a:avLst/>
          </a:prstGeom>
          <a:solidFill>
            <a:srgbClr val="FAEBE2"/>
          </a:solidFill>
          <a:ln>
            <a:solidFill>
              <a:srgbClr val="B55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2400">
                <a:solidFill>
                  <a:srgbClr val="B5533F"/>
                </a:solidFill>
              </a:defRPr>
            </a:pPr>
            <a:r>
              <a:t>Threats</a:t>
            </a:r>
          </a:p>
          <a:p>
            <a:pPr>
              <a:defRPr sz="1900">
                <a:solidFill>
                  <a:srgbClr val="2E2620"/>
                </a:solidFill>
              </a:defRPr>
            </a:pPr>
            <a:r>
              <a:t>• Habitat fragmentation</a:t>
            </a:r>
          </a:p>
          <a:p>
            <a:pPr>
              <a:defRPr sz="1900">
                <a:solidFill>
                  <a:srgbClr val="2E2620"/>
                </a:solidFill>
              </a:defRPr>
            </a:pPr>
            <a:r>
              <a:t>• Human-wildlife conflict</a:t>
            </a:r>
          </a:p>
          <a:p>
            <a:pPr>
              <a:defRPr sz="1900">
                <a:solidFill>
                  <a:srgbClr val="2E2620"/>
                </a:solidFill>
              </a:defRPr>
            </a:pPr>
            <a:r>
              <a:t>• Declining prey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394960" cy="4389120"/>
          </a:xfrm>
          <a:prstGeom prst="roundRect">
            <a:avLst/>
          </a:prstGeom>
          <a:solidFill>
            <a:srgbClr val="E7F3E0"/>
          </a:solidFill>
          <a:ln>
            <a:solidFill>
              <a:srgbClr val="637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2400">
                <a:solidFill>
                  <a:srgbClr val="63783E"/>
                </a:solidFill>
              </a:defRPr>
            </a:pPr>
            <a:r>
              <a:t>Solutions</a:t>
            </a:r>
          </a:p>
          <a:p>
            <a:pPr>
              <a:defRPr sz="1900">
                <a:solidFill>
                  <a:srgbClr val="2E2620"/>
                </a:solidFill>
              </a:defRPr>
            </a:pPr>
            <a:r>
              <a:t>• Protected landscapes</a:t>
            </a:r>
          </a:p>
          <a:p>
            <a:pPr>
              <a:defRPr sz="1900">
                <a:solidFill>
                  <a:srgbClr val="2E2620"/>
                </a:solidFill>
              </a:defRPr>
            </a:pPr>
            <a:r>
              <a:t>• Community coexistence programs</a:t>
            </a:r>
          </a:p>
          <a:p>
            <a:pPr>
              <a:defRPr sz="1900">
                <a:solidFill>
                  <a:srgbClr val="2E2620"/>
                </a:solidFill>
              </a:defRPr>
            </a:pPr>
            <a:r>
              <a:t>• Science-led monitoring and policy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49240" y="3703320"/>
            <a:ext cx="1371600" cy="640080"/>
          </a:xfrm>
          <a:prstGeom prst="rightArrow">
            <a:avLst/>
          </a:prstGeom>
          <a:solidFill>
            <a:srgbClr val="C67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